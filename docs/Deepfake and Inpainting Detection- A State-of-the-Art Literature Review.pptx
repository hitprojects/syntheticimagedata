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4320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Instrument Sans Medium" pitchFamily="2" charset="0"/>
      <p:regular r:id="rId13"/>
    </p:embeddedFont>
    <p:embeddedFont>
      <p:font typeface="Instrument Sans Semi Bold" pitchFamily="2" charset="0"/>
      <p:regular r:id="rId14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710"/>
    <p:restoredTop sz="96024"/>
  </p:normalViewPr>
  <p:slideViewPr>
    <p:cSldViewPr snapToGrid="0" snapToObjects="1">
      <p:cViewPr>
        <p:scale>
          <a:sx n="70" d="100"/>
          <a:sy n="70" d="100"/>
        </p:scale>
        <p:origin x="736" y="9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784354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l" defTabSz="914400" rtl="0" eaLnBrk="1" latinLnBrk="0" hangingPunct="1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28800" y="1346836"/>
            <a:ext cx="10972800" cy="2865120"/>
          </a:xfrm>
        </p:spPr>
        <p:txBody>
          <a:bodyPr anchor="b"/>
          <a:lstStyle>
            <a:lvl1pPr algn="ctr"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4322446"/>
            <a:ext cx="10972800" cy="1986914"/>
          </a:xfrm>
        </p:spPr>
        <p:txBody>
          <a:bodyPr/>
          <a:lstStyle>
            <a:lvl1pPr marL="0" indent="0" algn="ctr">
              <a:buNone/>
              <a:defRPr sz="2880"/>
            </a:lvl1pPr>
            <a:lvl2pPr marL="548640" indent="0" algn="ctr">
              <a:buNone/>
              <a:defRPr sz="2400"/>
            </a:lvl2pPr>
            <a:lvl3pPr marL="1097280" indent="0" algn="ctr">
              <a:buNone/>
              <a:defRPr sz="2160"/>
            </a:lvl3pPr>
            <a:lvl4pPr marL="1645920" indent="0" algn="ctr">
              <a:buNone/>
              <a:defRPr sz="1920"/>
            </a:lvl4pPr>
            <a:lvl5pPr marL="2194560" indent="0" algn="ctr">
              <a:buNone/>
              <a:defRPr sz="1920"/>
            </a:lvl5pPr>
            <a:lvl6pPr marL="2743200" indent="0" algn="ctr">
              <a:buNone/>
              <a:defRPr sz="1920"/>
            </a:lvl6pPr>
            <a:lvl7pPr marL="3291840" indent="0" algn="ctr">
              <a:buNone/>
              <a:defRPr sz="1920"/>
            </a:lvl7pPr>
            <a:lvl8pPr marL="3840480" indent="0" algn="ctr">
              <a:buNone/>
              <a:defRPr sz="1920"/>
            </a:lvl8pPr>
            <a:lvl9pPr marL="4389120" indent="0" algn="ctr">
              <a:buNone/>
              <a:defRPr sz="192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362693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6605341"/>
      </p:ext>
    </p:extLst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8220" y="2051686"/>
            <a:ext cx="12618720" cy="3423284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98220" y="5507356"/>
            <a:ext cx="12618720" cy="1800224"/>
          </a:xfrm>
        </p:spPr>
        <p:txBody>
          <a:bodyPr/>
          <a:lstStyle>
            <a:lvl1pPr marL="0" indent="0">
              <a:buNone/>
              <a:defRPr sz="2880">
                <a:solidFill>
                  <a:schemeClr val="tx1">
                    <a:tint val="75000"/>
                  </a:schemeClr>
                </a:solidFill>
              </a:defRPr>
            </a:lvl1pPr>
            <a:lvl2pPr marL="54864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097280" indent="0">
              <a:buNone/>
              <a:defRPr sz="2160">
                <a:solidFill>
                  <a:schemeClr val="tx1">
                    <a:tint val="75000"/>
                  </a:schemeClr>
                </a:solidFill>
              </a:defRPr>
            </a:lvl3pPr>
            <a:lvl4pPr marL="16459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4pPr>
            <a:lvl5pPr marL="219456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5pPr>
            <a:lvl6pPr marL="274320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6pPr>
            <a:lvl7pPr marL="329184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7pPr>
            <a:lvl8pPr marL="384048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8pPr>
            <a:lvl9pPr marL="4389120" indent="0">
              <a:buNone/>
              <a:defRPr sz="19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5428569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05840" y="2190750"/>
            <a:ext cx="6217920" cy="52216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06640" y="2190750"/>
            <a:ext cx="6217920" cy="52216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1494663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438150"/>
            <a:ext cx="12618720" cy="1590676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7746" y="2017396"/>
            <a:ext cx="6189344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07746" y="3006090"/>
            <a:ext cx="6189344" cy="44215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406640" y="2017396"/>
            <a:ext cx="6219826" cy="988694"/>
          </a:xfrm>
        </p:spPr>
        <p:txBody>
          <a:bodyPr anchor="b"/>
          <a:lstStyle>
            <a:lvl1pPr marL="0" indent="0">
              <a:buNone/>
              <a:defRPr sz="2880" b="1"/>
            </a:lvl1pPr>
            <a:lvl2pPr marL="548640" indent="0">
              <a:buNone/>
              <a:defRPr sz="2400" b="1"/>
            </a:lvl2pPr>
            <a:lvl3pPr marL="1097280" indent="0">
              <a:buNone/>
              <a:defRPr sz="2160" b="1"/>
            </a:lvl3pPr>
            <a:lvl4pPr marL="1645920" indent="0">
              <a:buNone/>
              <a:defRPr sz="1920" b="1"/>
            </a:lvl4pPr>
            <a:lvl5pPr marL="2194560" indent="0">
              <a:buNone/>
              <a:defRPr sz="1920" b="1"/>
            </a:lvl5pPr>
            <a:lvl6pPr marL="2743200" indent="0">
              <a:buNone/>
              <a:defRPr sz="1920" b="1"/>
            </a:lvl6pPr>
            <a:lvl7pPr marL="3291840" indent="0">
              <a:buNone/>
              <a:defRPr sz="1920" b="1"/>
            </a:lvl7pPr>
            <a:lvl8pPr marL="3840480" indent="0">
              <a:buNone/>
              <a:defRPr sz="1920" b="1"/>
            </a:lvl8pPr>
            <a:lvl9pPr marL="4389120" indent="0">
              <a:buNone/>
              <a:defRPr sz="192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406640" y="3006090"/>
            <a:ext cx="6219826" cy="4421506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0679965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74978752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78599648"/>
      </p:ext>
    </p:extLst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19826" y="1184911"/>
            <a:ext cx="7406640" cy="5848350"/>
          </a:xfrm>
        </p:spPr>
        <p:txBody>
          <a:bodyPr/>
          <a:lstStyle>
            <a:lvl1pPr>
              <a:defRPr sz="3840"/>
            </a:lvl1pPr>
            <a:lvl2pPr>
              <a:defRPr sz="3360"/>
            </a:lvl2pPr>
            <a:lvl3pPr>
              <a:defRPr sz="2880"/>
            </a:lvl3pPr>
            <a:lvl4pPr>
              <a:defRPr sz="2400"/>
            </a:lvl4pPr>
            <a:lvl5pPr>
              <a:defRPr sz="2400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8272555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07746" y="548640"/>
            <a:ext cx="4718684" cy="1920240"/>
          </a:xfrm>
        </p:spPr>
        <p:txBody>
          <a:bodyPr anchor="b"/>
          <a:lstStyle>
            <a:lvl1pPr>
              <a:defRPr sz="3840"/>
            </a:lvl1pPr>
          </a:lstStyle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219826" y="1184911"/>
            <a:ext cx="7406640" cy="5848350"/>
          </a:xfrm>
        </p:spPr>
        <p:txBody>
          <a:bodyPr anchor="t"/>
          <a:lstStyle>
            <a:lvl1pPr marL="0" indent="0">
              <a:buNone/>
              <a:defRPr sz="3840"/>
            </a:lvl1pPr>
            <a:lvl2pPr marL="548640" indent="0">
              <a:buNone/>
              <a:defRPr sz="3360"/>
            </a:lvl2pPr>
            <a:lvl3pPr marL="1097280" indent="0">
              <a:buNone/>
              <a:defRPr sz="2880"/>
            </a:lvl3pPr>
            <a:lvl4pPr marL="1645920" indent="0">
              <a:buNone/>
              <a:defRPr sz="2400"/>
            </a:lvl4pPr>
            <a:lvl5pPr marL="2194560" indent="0">
              <a:buNone/>
              <a:defRPr sz="2400"/>
            </a:lvl5pPr>
            <a:lvl6pPr marL="2743200" indent="0">
              <a:buNone/>
              <a:defRPr sz="2400"/>
            </a:lvl6pPr>
            <a:lvl7pPr marL="3291840" indent="0">
              <a:buNone/>
              <a:defRPr sz="2400"/>
            </a:lvl7pPr>
            <a:lvl8pPr marL="3840480" indent="0">
              <a:buNone/>
              <a:defRPr sz="2400"/>
            </a:lvl8pPr>
            <a:lvl9pPr marL="4389120" indent="0">
              <a:buNone/>
              <a:defRPr sz="2400"/>
            </a:lvl9pPr>
          </a:lstStyle>
          <a:p>
            <a:r>
              <a:rPr lang="he-IL"/>
              <a:t>לחץ על הסמל כדי להוסיף תמונה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07746" y="2468880"/>
            <a:ext cx="4718684" cy="4573906"/>
          </a:xfrm>
        </p:spPr>
        <p:txBody>
          <a:bodyPr/>
          <a:lstStyle>
            <a:lvl1pPr marL="0" indent="0">
              <a:buNone/>
              <a:defRPr sz="1920"/>
            </a:lvl1pPr>
            <a:lvl2pPr marL="548640" indent="0">
              <a:buNone/>
              <a:defRPr sz="1680"/>
            </a:lvl2pPr>
            <a:lvl3pPr marL="1097280" indent="0">
              <a:buNone/>
              <a:defRPr sz="1440"/>
            </a:lvl3pPr>
            <a:lvl4pPr marL="1645920" indent="0">
              <a:buNone/>
              <a:defRPr sz="1200"/>
            </a:lvl4pPr>
            <a:lvl5pPr marL="2194560" indent="0">
              <a:buNone/>
              <a:defRPr sz="1200"/>
            </a:lvl5pPr>
            <a:lvl6pPr marL="2743200" indent="0">
              <a:buNone/>
              <a:defRPr sz="1200"/>
            </a:lvl6pPr>
            <a:lvl7pPr marL="3291840" indent="0">
              <a:buNone/>
              <a:defRPr sz="1200"/>
            </a:lvl7pPr>
            <a:lvl8pPr marL="3840480" indent="0">
              <a:buNone/>
              <a:defRPr sz="1200"/>
            </a:lvl8pPr>
            <a:lvl9pPr marL="4389120" indent="0">
              <a:buNone/>
              <a:defRPr sz="12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729493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0901850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469880" y="438150"/>
            <a:ext cx="3154680" cy="6974206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05840" y="438150"/>
            <a:ext cx="9281160" cy="6974206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156418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3999138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4908091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80331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5175818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0262461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42282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070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4267148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7221366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904577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05840" y="438150"/>
            <a:ext cx="12618720" cy="15906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05840" y="2190750"/>
            <a:ext cx="12618720" cy="522160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0584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2/8/26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846320" y="7627621"/>
            <a:ext cx="493776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32720" y="7627621"/>
            <a:ext cx="3291840" cy="4381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4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7448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21" r:id="rId1"/>
    <p:sldLayoutId id="2147484322" r:id="rId2"/>
    <p:sldLayoutId id="2147484323" r:id="rId3"/>
    <p:sldLayoutId id="2147484324" r:id="rId4"/>
    <p:sldLayoutId id="2147484325" r:id="rId5"/>
    <p:sldLayoutId id="2147484326" r:id="rId6"/>
    <p:sldLayoutId id="2147484327" r:id="rId7"/>
    <p:sldLayoutId id="2147484328" r:id="rId8"/>
    <p:sldLayoutId id="2147484329" r:id="rId9"/>
    <p:sldLayoutId id="2147484330" r:id="rId10"/>
    <p:sldLayoutId id="2147484331" r:id="rId11"/>
    <p:sldLayoutId id="2147484332" r:id="rId12"/>
    <p:sldLayoutId id="2147484333" r:id="rId13"/>
    <p:sldLayoutId id="2147484334" r:id="rId14"/>
    <p:sldLayoutId id="2147484335" r:id="rId15"/>
    <p:sldLayoutId id="2147484336" r:id="rId16"/>
    <p:sldLayoutId id="2147484337" r:id="rId17"/>
    <p:sldLayoutId id="2147484338" r:id="rId18"/>
    <p:sldLayoutId id="2147484339" r:id="rId19"/>
    <p:sldLayoutId id="2147484340" r:id="rId20"/>
    <p:sldLayoutId id="2147484341" r:id="rId21"/>
  </p:sldLayoutIdLst>
  <p:hf sldNum="0" hdr="0" ftr="0" dt="0"/>
  <p:txStyles>
    <p:titleStyle>
      <a:lvl1pPr algn="l" defTabSz="1097280" rtl="1" eaLnBrk="1" latinLnBrk="0" hangingPunct="1">
        <a:lnSpc>
          <a:spcPct val="90000"/>
        </a:lnSpc>
        <a:spcBef>
          <a:spcPct val="0"/>
        </a:spcBef>
        <a:buNone/>
        <a:defRPr sz="528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74320" indent="-274320" algn="r" defTabSz="1097280" rtl="1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880" kern="1200">
          <a:solidFill>
            <a:schemeClr val="tx1"/>
          </a:solidFill>
          <a:latin typeface="+mn-lt"/>
          <a:ea typeface="+mn-ea"/>
          <a:cs typeface="+mn-cs"/>
        </a:defRPr>
      </a:lvl2pPr>
      <a:lvl3pPr marL="13716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46888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301752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56616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411480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663440" indent="-274320" algn="r" defTabSz="1097280" rtl="1" eaLnBrk="1" latinLnBrk="0" hangingPunct="1">
        <a:lnSpc>
          <a:spcPct val="90000"/>
        </a:lnSpc>
        <a:spcBef>
          <a:spcPts val="60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972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3pPr>
      <a:lvl4pPr marL="16459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4pPr>
      <a:lvl5pPr marL="219456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5pPr>
      <a:lvl6pPr marL="274320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6pPr>
      <a:lvl7pPr marL="329184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7pPr>
      <a:lvl8pPr marL="384048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8pPr>
      <a:lvl9pPr marL="4389120" algn="r" defTabSz="1097280" rtl="1" eaLnBrk="1" latinLnBrk="0" hangingPunct="1">
        <a:defRPr sz="216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0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s://arxiv.org/abs/2410.10238" TargetMode="External"/><Relationship Id="rId3" Type="http://schemas.openxmlformats.org/officeDocument/2006/relationships/hyperlink" Target="https://arxiv.org/abs/2503.02857" TargetMode="External"/><Relationship Id="rId7" Type="http://schemas.openxmlformats.org/officeDocument/2006/relationships/hyperlink" Target="https://arxiv.org/abs/2508.20182" TargetMode="Externa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1.xml"/><Relationship Id="rId6" Type="http://schemas.openxmlformats.org/officeDocument/2006/relationships/hyperlink" Target="https://ojs.aaai.org/index.php/AAAI/article/view/32837" TargetMode="External"/><Relationship Id="rId5" Type="http://schemas.openxmlformats.org/officeDocument/2006/relationships/hyperlink" Target="https://ojs.aaai.org/index.php/AAAI/article/view/32990" TargetMode="External"/><Relationship Id="rId10" Type="http://schemas.openxmlformats.org/officeDocument/2006/relationships/hyperlink" Target="https://openreview.net/forum?id=frqg27qMkd" TargetMode="External"/><Relationship Id="rId4" Type="http://schemas.openxmlformats.org/officeDocument/2006/relationships/hyperlink" Target="https://arxiv.org/abs/2505.11003" TargetMode="External"/><Relationship Id="rId9" Type="http://schemas.openxmlformats.org/officeDocument/2006/relationships/hyperlink" Target="https://arxiv.org/abs/2502.06593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0246" y="276979"/>
            <a:ext cx="13278088" cy="12075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ts val="4750"/>
              </a:lnSpc>
            </a:pPr>
            <a:r>
              <a:rPr lang="en-US" sz="3800" b="1" u="sng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 and Inpainting Detection- A State-of-the-Art Literature Review</a:t>
            </a:r>
            <a:endParaRPr lang="en-US" sz="3800" b="1" u="sng" dirty="0"/>
          </a:p>
        </p:txBody>
      </p:sp>
      <p:sp>
        <p:nvSpPr>
          <p:cNvPr id="3" name="Text 1"/>
          <p:cNvSpPr/>
          <p:nvPr/>
        </p:nvSpPr>
        <p:spPr>
          <a:xfrm>
            <a:off x="676156" y="1958277"/>
            <a:ext cx="13006268" cy="48291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800"/>
              </a:lnSpc>
              <a:buNone/>
            </a:pPr>
            <a:r>
              <a:rPr lang="en-US" sz="3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"Industrial Revolution" of Synthetic Media and the the Crisis of Trust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76156" y="3006289"/>
            <a:ext cx="13278088" cy="49463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The Shift to Hyper-Realism</a:t>
            </a:r>
            <a:r>
              <a:rPr lang="en" sz="2800" dirty="0">
                <a:solidFill>
                  <a:srgbClr val="002060"/>
                </a:solidFill>
              </a:rPr>
              <a:t> We have witnessed a tectonic shift from the "glitchy" GAN Era to the </a:t>
            </a:r>
            <a:r>
              <a:rPr lang="en" sz="2800" b="1" dirty="0">
                <a:solidFill>
                  <a:srgbClr val="002060"/>
                </a:solidFill>
              </a:rPr>
              <a:t>Diffusion Era</a:t>
            </a:r>
            <a:r>
              <a:rPr lang="en" sz="2800" dirty="0">
                <a:solidFill>
                  <a:srgbClr val="002060"/>
                </a:solidFill>
              </a:rPr>
              <a:t>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02060"/>
                </a:solidFill>
              </a:rPr>
              <a:t>With the democratization of high-fidelity models like </a:t>
            </a:r>
            <a:r>
              <a:rPr lang="en" sz="2800" b="1" dirty="0">
                <a:solidFill>
                  <a:srgbClr val="002060"/>
                </a:solidFill>
              </a:rPr>
              <a:t>Stable Diffusion 3</a:t>
            </a:r>
            <a:r>
              <a:rPr lang="en" sz="2800" dirty="0">
                <a:solidFill>
                  <a:srgbClr val="002060"/>
                </a:solidFill>
              </a:rPr>
              <a:t>, we are no longer dealing with obvious artifacts but with synthetic media that is "statistically perfect".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The "Generalization Gap"</a:t>
            </a:r>
            <a:r>
              <a:rPr lang="en" sz="2800" dirty="0">
                <a:solidFill>
                  <a:srgbClr val="002060"/>
                </a:solidFill>
              </a:rPr>
              <a:t> This transition has rendered traditional "Artifact-Centric" detection obsolete. 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dirty="0">
                <a:solidFill>
                  <a:srgbClr val="002060"/>
                </a:solidFill>
              </a:rPr>
              <a:t>A critical gap has emerged: academic models that excel in the lab now fail when tested against "in-the-wild" social media content.</a:t>
            </a:r>
          </a:p>
          <a:p>
            <a:pPr marL="457200" indent="-457200" algn="l" rtl="0">
              <a:buFont typeface="Arial" panose="020B0604020202020204" pitchFamily="34" charset="0"/>
              <a:buChar char="•"/>
            </a:pPr>
            <a:r>
              <a:rPr lang="en" sz="2800" b="1" dirty="0">
                <a:solidFill>
                  <a:srgbClr val="002060"/>
                </a:solidFill>
              </a:rPr>
              <a:t>Redefining Forensics</a:t>
            </a:r>
            <a:r>
              <a:rPr lang="en" sz="2800" dirty="0">
                <a:solidFill>
                  <a:srgbClr val="002060"/>
                </a:solidFill>
              </a:rPr>
              <a:t> To restore reliability, we must pivot away from simple pixel-level classification. The new forensic frontier requires us to analyze </a:t>
            </a:r>
            <a:r>
              <a:rPr lang="en" sz="2800" b="1" dirty="0">
                <a:solidFill>
                  <a:srgbClr val="002060"/>
                </a:solidFill>
              </a:rPr>
              <a:t>Semantic &amp; Physical Consistency</a:t>
            </a:r>
            <a:r>
              <a:rPr lang="en" sz="2800" dirty="0">
                <a:solidFill>
                  <a:srgbClr val="002060"/>
                </a:solidFill>
              </a:rPr>
              <a:t>-looking for logical flaws in the image rather than just noise.</a:t>
            </a:r>
          </a:p>
        </p:txBody>
      </p:sp>
      <p:sp>
        <p:nvSpPr>
          <p:cNvPr id="5" name="מלבן 4">
            <a:extLst>
              <a:ext uri="{FF2B5EF4-FFF2-40B4-BE49-F238E27FC236}">
                <a16:creationId xmlns:a16="http://schemas.microsoft.com/office/drawing/2014/main" id="{1EB110AF-D30E-2A6C-9789-8A37CAA2577C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5216" y="640556"/>
            <a:ext cx="7536656" cy="4151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250"/>
              </a:lnSpc>
              <a:buNone/>
            </a:pPr>
            <a:r>
              <a:rPr lang="en-US" sz="3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"Generalization Gap" (Data Analysis)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75216" y="1142167"/>
            <a:ext cx="11171992" cy="692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450"/>
              </a:lnSpc>
              <a:buNone/>
            </a:pPr>
            <a:r>
              <a:rPr lang="en-US" sz="43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Quantifying the Failure of Legacy Forensics</a:t>
            </a:r>
            <a:endParaRPr lang="en-US" sz="4350" dirty="0"/>
          </a:p>
        </p:txBody>
      </p:sp>
      <p:sp>
        <p:nvSpPr>
          <p:cNvPr id="4" name="Shape 2"/>
          <p:cNvSpPr/>
          <p:nvPr/>
        </p:nvSpPr>
        <p:spPr>
          <a:xfrm>
            <a:off x="775216" y="2158603"/>
            <a:ext cx="4215765" cy="5430441"/>
          </a:xfrm>
          <a:prstGeom prst="roundRect">
            <a:avLst>
              <a:gd name="adj" fmla="val 4729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dirty="0"/>
          </a:p>
        </p:txBody>
      </p:sp>
      <p:sp>
        <p:nvSpPr>
          <p:cNvPr id="7" name="Text 4"/>
          <p:cNvSpPr/>
          <p:nvPr/>
        </p:nvSpPr>
        <p:spPr>
          <a:xfrm>
            <a:off x="996672" y="326064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"AUC Collapse":</a:t>
            </a:r>
            <a:endParaRPr lang="en-US" sz="2150" dirty="0"/>
          </a:p>
        </p:txBody>
      </p:sp>
      <p:sp>
        <p:nvSpPr>
          <p:cNvPr id="8" name="Text 5"/>
          <p:cNvSpPr/>
          <p:nvPr/>
        </p:nvSpPr>
        <p:spPr>
          <a:xfrm>
            <a:off x="996672" y="3736300"/>
            <a:ext cx="3772853" cy="140065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Analysis of the </a:t>
            </a: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DeepFake-Eval-2024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benchmark (published March 2025) reveals a catastrophic performance drop.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996672" y="5266611"/>
            <a:ext cx="3772853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State-of-the-art open-source models suffered an average </a:t>
            </a: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45–50% decrease in AUC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when tested on social media content (TikTok, X) compared to academic datasets (FaceForensics++).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5207198" y="2158603"/>
            <a:ext cx="4215884" cy="5430441"/>
          </a:xfrm>
          <a:prstGeom prst="roundRect">
            <a:avLst>
              <a:gd name="adj" fmla="val 4728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l" defTabSz="457200" rtl="0" eaLnBrk="1" latinLnBrk="0" hangingPunct="1"/>
            <a:endParaRPr lang="he-IL"/>
          </a:p>
        </p:txBody>
      </p:sp>
      <p:sp>
        <p:nvSpPr>
          <p:cNvPr id="13" name="Text 9"/>
          <p:cNvSpPr/>
          <p:nvPr/>
        </p:nvSpPr>
        <p:spPr>
          <a:xfrm>
            <a:off x="5428655" y="3260646"/>
            <a:ext cx="3772972" cy="69199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Specific Degradation Metrics:</a:t>
            </a:r>
            <a:endParaRPr lang="en-US" sz="2150" dirty="0"/>
          </a:p>
        </p:txBody>
      </p:sp>
      <p:sp>
        <p:nvSpPr>
          <p:cNvPr id="14" name="Text 10"/>
          <p:cNvSpPr/>
          <p:nvPr/>
        </p:nvSpPr>
        <p:spPr>
          <a:xfrm>
            <a:off x="5428655" y="4082296"/>
            <a:ext cx="3772972" cy="21013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Video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~50% performance drop.</a:t>
            </a:r>
            <a:endParaRPr lang="en-US" sz="1700" dirty="0"/>
          </a:p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Audio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~48% performance drop.</a:t>
            </a:r>
            <a:endParaRPr lang="en-US" sz="1700" dirty="0"/>
          </a:p>
          <a:p>
            <a:pPr marL="342900" indent="-342900" algn="l" rtl="0">
              <a:lnSpc>
                <a:spcPts val="2750"/>
              </a:lnSpc>
              <a:buSzPct val="100000"/>
              <a:buChar char="•"/>
            </a:pPr>
            <a:r>
              <a:rPr lang="en-US" sz="17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Image Detectors:</a:t>
            </a: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~45% performance drop.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9639300" y="2158603"/>
            <a:ext cx="4215884" cy="5430441"/>
          </a:xfrm>
          <a:prstGeom prst="roundRect">
            <a:avLst>
              <a:gd name="adj" fmla="val 4728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/>
          </a:p>
        </p:txBody>
      </p:sp>
      <p:sp>
        <p:nvSpPr>
          <p:cNvPr id="18" name="Text 13"/>
          <p:cNvSpPr/>
          <p:nvPr/>
        </p:nvSpPr>
        <p:spPr>
          <a:xfrm>
            <a:off x="9860756" y="3260646"/>
            <a:ext cx="2768679" cy="34599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00"/>
              </a:lnSpc>
              <a:buNone/>
            </a:pPr>
            <a:r>
              <a:rPr lang="en-US" sz="215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Why?</a:t>
            </a:r>
            <a:endParaRPr lang="en-US" sz="2150" dirty="0"/>
          </a:p>
        </p:txBody>
      </p:sp>
      <p:sp>
        <p:nvSpPr>
          <p:cNvPr id="19" name="Text 14"/>
          <p:cNvSpPr/>
          <p:nvPr/>
        </p:nvSpPr>
        <p:spPr>
          <a:xfrm>
            <a:off x="9860756" y="3736300"/>
            <a:ext cx="3772972" cy="210097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17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The "Local Realism" of diffusion models effectively scrubs the high-frequency spectral traces that previous detectors relied upon, while social media compression further masks these signals.</a:t>
            </a:r>
            <a:endParaRPr lang="en-US" sz="1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27829" y="850940"/>
            <a:ext cx="6366986" cy="3580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Taxonomy of Manipulation (2024–2026)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27829" y="1273135"/>
            <a:ext cx="9754552" cy="59662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650"/>
              </a:lnSpc>
              <a:buNone/>
            </a:pPr>
            <a:r>
              <a:rPr lang="en-US" sz="44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Categorizing the Modern Threat Landscape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727829" y="2397085"/>
            <a:ext cx="6507004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sz="2400"/>
          </a:p>
        </p:txBody>
      </p:sp>
      <p:sp>
        <p:nvSpPr>
          <p:cNvPr id="5" name="Shape 3"/>
          <p:cNvSpPr/>
          <p:nvPr/>
        </p:nvSpPr>
        <p:spPr>
          <a:xfrm>
            <a:off x="727829" y="2374225"/>
            <a:ext cx="6507004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6" name="Shape 4"/>
          <p:cNvSpPr/>
          <p:nvPr/>
        </p:nvSpPr>
        <p:spPr>
          <a:xfrm>
            <a:off x="3694926" y="2110740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7" name="Text 5"/>
          <p:cNvSpPr/>
          <p:nvPr/>
        </p:nvSpPr>
        <p:spPr>
          <a:xfrm>
            <a:off x="3866733" y="2253972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41546" y="2874407"/>
            <a:ext cx="4218503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Generative Synthesis (Full Synthesis):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941546" y="3269099"/>
            <a:ext cx="6079569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Shift from U-Net LDMs to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Diffusion Transformers (DiTs)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like FLUX.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Trace: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"Spectral roll-off" in high frequencies due to VAE upsampling.</a:t>
            </a:r>
            <a:endParaRPr lang="en-US" dirty="0"/>
          </a:p>
        </p:txBody>
      </p:sp>
      <p:sp>
        <p:nvSpPr>
          <p:cNvPr id="10" name="Shape 8"/>
          <p:cNvSpPr/>
          <p:nvPr/>
        </p:nvSpPr>
        <p:spPr>
          <a:xfrm>
            <a:off x="7395448" y="2397085"/>
            <a:ext cx="6507123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1" name="Shape 9"/>
          <p:cNvSpPr/>
          <p:nvPr/>
        </p:nvSpPr>
        <p:spPr>
          <a:xfrm>
            <a:off x="7395448" y="2374225"/>
            <a:ext cx="6507123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2" name="Shape 10"/>
          <p:cNvSpPr/>
          <p:nvPr/>
        </p:nvSpPr>
        <p:spPr>
          <a:xfrm>
            <a:off x="10362545" y="2110740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3" name="Text 11"/>
          <p:cNvSpPr/>
          <p:nvPr/>
        </p:nvSpPr>
        <p:spPr>
          <a:xfrm>
            <a:off x="10534352" y="2253972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2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7609165" y="2874407"/>
            <a:ext cx="3886676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Deepfakes (Identity Manipulation):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7609165" y="3269099"/>
            <a:ext cx="6079688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Face Swapping: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One-shot capability (e.g.,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Ghost 2.0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LivePortrait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requiring only a single source image.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Reenactment: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"Cloned" video avatars driving expression via source video.</a:t>
            </a:r>
            <a:endParaRPr lang="en-US" dirty="0"/>
          </a:p>
        </p:txBody>
      </p:sp>
      <p:sp>
        <p:nvSpPr>
          <p:cNvPr id="16" name="Shape 14"/>
          <p:cNvSpPr/>
          <p:nvPr/>
        </p:nvSpPr>
        <p:spPr>
          <a:xfrm>
            <a:off x="727829" y="4998862"/>
            <a:ext cx="6507004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7" name="Shape 15"/>
          <p:cNvSpPr/>
          <p:nvPr/>
        </p:nvSpPr>
        <p:spPr>
          <a:xfrm>
            <a:off x="727829" y="4976002"/>
            <a:ext cx="6507004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18" name="Shape 16"/>
          <p:cNvSpPr/>
          <p:nvPr/>
        </p:nvSpPr>
        <p:spPr>
          <a:xfrm>
            <a:off x="3694926" y="4712517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marL="0" algn="r" defTabSz="914400" rtl="1" eaLnBrk="1" latinLnBrk="0" hangingPunct="1"/>
            <a:endParaRPr lang="he-IL" sz="2400"/>
          </a:p>
        </p:txBody>
      </p:sp>
      <p:sp>
        <p:nvSpPr>
          <p:cNvPr id="19" name="Text 17"/>
          <p:cNvSpPr/>
          <p:nvPr/>
        </p:nvSpPr>
        <p:spPr>
          <a:xfrm>
            <a:off x="3866733" y="4855749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3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941546" y="5476184"/>
            <a:ext cx="4809530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Text-Guided Inpainting (The New Frontier):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941546" y="5870876"/>
            <a:ext cx="6079569" cy="112533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Definition: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Masking and regenerating specific regions to alter context (e.g., changing clothes, removing objects).</a:t>
            </a:r>
            <a:endParaRPr lang="en-US" dirty="0"/>
          </a:p>
          <a:p>
            <a:pPr marL="342900" indent="-342900" algn="l" rtl="0">
              <a:lnSpc>
                <a:spcPts val="2200"/>
              </a:lnSpc>
              <a:buSzPct val="100000"/>
              <a:buChar char="•"/>
            </a:pPr>
            <a:r>
              <a:rPr lang="en-US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Challenge: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Unlike "splicing," inpainting </a:t>
            </a:r>
            <a:r>
              <a:rPr lang="en-US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harmonizes</a:t>
            </a: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lighting and texture, removing edge artifacts.</a:t>
            </a:r>
            <a:endParaRPr lang="en-US" dirty="0"/>
          </a:p>
        </p:txBody>
      </p:sp>
      <p:sp>
        <p:nvSpPr>
          <p:cNvPr id="22" name="Shape 20"/>
          <p:cNvSpPr/>
          <p:nvPr/>
        </p:nvSpPr>
        <p:spPr>
          <a:xfrm>
            <a:off x="7395448" y="4998862"/>
            <a:ext cx="6507123" cy="2267307"/>
          </a:xfrm>
          <a:prstGeom prst="roundRect">
            <a:avLst>
              <a:gd name="adj" fmla="val 4840"/>
            </a:avLst>
          </a:prstGeom>
          <a:solidFill>
            <a:srgbClr val="FFFFFF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3" name="Shape 21"/>
          <p:cNvSpPr/>
          <p:nvPr/>
        </p:nvSpPr>
        <p:spPr>
          <a:xfrm>
            <a:off x="7395448" y="4976002"/>
            <a:ext cx="6507123" cy="91440"/>
          </a:xfrm>
          <a:prstGeom prst="roundRect">
            <a:avLst>
              <a:gd name="adj" fmla="val 18793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4" name="Shape 22"/>
          <p:cNvSpPr/>
          <p:nvPr/>
        </p:nvSpPr>
        <p:spPr>
          <a:xfrm>
            <a:off x="10362545" y="4712517"/>
            <a:ext cx="572810" cy="572810"/>
          </a:xfrm>
          <a:prstGeom prst="roundRect">
            <a:avLst>
              <a:gd name="adj" fmla="val 159634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25" name="Text 23"/>
          <p:cNvSpPr/>
          <p:nvPr/>
        </p:nvSpPr>
        <p:spPr>
          <a:xfrm>
            <a:off x="10534352" y="4855749"/>
            <a:ext cx="229076" cy="2863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2400" dirty="0">
                <a:solidFill>
                  <a:srgbClr val="000000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4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7609165" y="5476184"/>
            <a:ext cx="2386727" cy="298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300"/>
              </a:lnSpc>
              <a:buNone/>
            </a:pPr>
            <a:r>
              <a:rPr lang="en-US" sz="24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Outpainting: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7609165" y="5870876"/>
            <a:ext cx="6079688" cy="56268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Extending image boundaries to hallucinate new environments/contexts.</a:t>
            </a:r>
            <a:endParaRPr lang="en-US" dirty="0"/>
          </a:p>
        </p:txBody>
      </p:sp>
      <p:sp>
        <p:nvSpPr>
          <p:cNvPr id="28" name="מלבן 27">
            <a:extLst>
              <a:ext uri="{FF2B5EF4-FFF2-40B4-BE49-F238E27FC236}">
                <a16:creationId xmlns:a16="http://schemas.microsoft.com/office/drawing/2014/main" id="{3E12777F-13F9-4A1C-508C-FF154FC35BE1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sz="2400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01040"/>
            <a:ext cx="4927997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Inpainting Paradox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217057"/>
            <a:ext cx="1011257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Local Realism vs. Global Inconsistency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3331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Core Challenge: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793790" y="3912156"/>
            <a:ext cx="6244709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Local Realism: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Diffusion models generate textures (skin pores, fabric) that are statistically indistinguishable from real photos in small patches (64x64 pixels).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Global Failure: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models lack a true understanding of 3D physics and scene logic.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599521" y="333101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Vectors: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7599521" y="3912156"/>
            <a:ext cx="6244709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Physical Inconsistency: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Mismatched lighting directions, incorrect shadow fall-off, or impossible reflections.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VAE Compression Artifacts: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Subtle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hue shifts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"smearing" in high-frequency areas (hair, grass) caused by the Latent Diffusion Model's compression step.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New Datasets: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Introduction of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SAGI-D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(95k images) to train models specifically on these "hard negatives."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">
            <a:extLst>
              <a:ext uri="{FF2B5EF4-FFF2-40B4-BE49-F238E27FC236}">
                <a16:creationId xmlns:a16="http://schemas.microsoft.com/office/drawing/2014/main" id="{30E68338-1A86-F883-F529-113162ACBC37}"/>
              </a:ext>
            </a:extLst>
          </p:cNvPr>
          <p:cNvSpPr/>
          <p:nvPr/>
        </p:nvSpPr>
        <p:spPr>
          <a:xfrm>
            <a:off x="7338179" y="2552980"/>
            <a:ext cx="6205180" cy="4364672"/>
          </a:xfrm>
          <a:prstGeom prst="roundRect">
            <a:avLst>
              <a:gd name="adj" fmla="val 7835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sz="2400" dirty="0"/>
          </a:p>
        </p:txBody>
      </p:sp>
      <p:sp>
        <p:nvSpPr>
          <p:cNvPr id="2" name="Text 0"/>
          <p:cNvSpPr/>
          <p:nvPr/>
        </p:nvSpPr>
        <p:spPr>
          <a:xfrm>
            <a:off x="1087041" y="474724"/>
            <a:ext cx="7021830" cy="3371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650"/>
              </a:lnSpc>
              <a:buNone/>
            </a:pPr>
            <a:r>
              <a:rPr lang="en-US" sz="40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Family 1: Reconstruction &amp; Frequency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1109901" y="1844397"/>
            <a:ext cx="11008043" cy="56209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4400"/>
              </a:lnSpc>
              <a:buNone/>
            </a:pPr>
            <a:r>
              <a:rPr lang="en-US" sz="28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"White-Box" and Signal Processing Approaches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03651" y="2620328"/>
            <a:ext cx="22860" cy="4159091"/>
          </a:xfrm>
          <a:prstGeom prst="roundRect">
            <a:avLst>
              <a:gd name="adj" fmla="val 708124"/>
            </a:avLst>
          </a:prstGeom>
          <a:solidFill>
            <a:srgbClr val="B4CCE3"/>
          </a:solidFill>
          <a:ln/>
        </p:spPr>
        <p:txBody>
          <a:bodyPr/>
          <a:lstStyle/>
          <a:p>
            <a:pPr algn="l" rtl="0"/>
            <a:endParaRPr lang="he-IL" sz="2400"/>
          </a:p>
        </p:txBody>
      </p:sp>
      <p:sp>
        <p:nvSpPr>
          <p:cNvPr id="5" name="Shape 3"/>
          <p:cNvSpPr/>
          <p:nvPr/>
        </p:nvSpPr>
        <p:spPr>
          <a:xfrm>
            <a:off x="1087041" y="2620328"/>
            <a:ext cx="6205180" cy="4364672"/>
          </a:xfrm>
          <a:prstGeom prst="roundRect">
            <a:avLst>
              <a:gd name="adj" fmla="val 7835"/>
            </a:avLst>
          </a:prstGeom>
          <a:solidFill>
            <a:srgbClr val="CEE6FD"/>
          </a:solidFill>
          <a:ln/>
        </p:spPr>
        <p:txBody>
          <a:bodyPr/>
          <a:lstStyle/>
          <a:p>
            <a:pPr marL="0" algn="r" defTabSz="457200" rtl="1" eaLnBrk="1" latinLnBrk="0" hangingPunct="1"/>
            <a:endParaRPr lang="he-IL" sz="2400" dirty="0"/>
          </a:p>
        </p:txBody>
      </p:sp>
      <p:sp>
        <p:nvSpPr>
          <p:cNvPr id="6" name="Text 4"/>
          <p:cNvSpPr/>
          <p:nvPr/>
        </p:nvSpPr>
        <p:spPr>
          <a:xfrm>
            <a:off x="1266825" y="2826853"/>
            <a:ext cx="474761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sz="20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Generative Reconstruction (e.g., End4, DIRE):</a:t>
            </a:r>
            <a:endParaRPr lang="en-US" sz="2000" u="sng" dirty="0"/>
          </a:p>
        </p:txBody>
      </p:sp>
      <p:sp>
        <p:nvSpPr>
          <p:cNvPr id="7" name="Text 5"/>
          <p:cNvSpPr/>
          <p:nvPr/>
        </p:nvSpPr>
        <p:spPr>
          <a:xfrm>
            <a:off x="1266825" y="3469826"/>
            <a:ext cx="5845612" cy="12899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Hypothesis: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 diffusion model can easily reconstruct images that lie within its own "latent manifold" (Fake = Low Error), but struggles with the entropy of real, complex images (Real = High Error).</a:t>
            </a:r>
          </a:p>
          <a:p>
            <a:pPr algn="l" rtl="0">
              <a:lnSpc>
                <a:spcPts val="2000"/>
              </a:lnSpc>
              <a:buSzPct val="100000"/>
            </a:pPr>
            <a:endParaRPr lang="en-US" sz="2000" dirty="0"/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2025 Advance: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End4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updates model parameters </a:t>
            </a: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during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reconstruction to better align with unseen inpainting models.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466925" y="2826853"/>
            <a:ext cx="4090987" cy="28098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200"/>
              </a:lnSpc>
              <a:buNone/>
            </a:pPr>
            <a:r>
              <a:rPr lang="en-US" sz="24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Frequency Analysis (e.g., FreqBlender):</a:t>
            </a:r>
            <a:endParaRPr lang="en-US" sz="2400" u="sng" dirty="0"/>
          </a:p>
        </p:txBody>
      </p:sp>
      <p:sp>
        <p:nvSpPr>
          <p:cNvPr id="10" name="Text 8"/>
          <p:cNvSpPr/>
          <p:nvPr/>
        </p:nvSpPr>
        <p:spPr>
          <a:xfrm>
            <a:off x="7337941" y="3438979"/>
            <a:ext cx="5845731" cy="272737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Mechanism: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Detecting "spectral peaks" or specific noise patterns left by the iterative denoising process.</a:t>
            </a:r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endParaRPr lang="en-US" sz="2000" dirty="0">
              <a:solidFill>
                <a:srgbClr val="1E3063"/>
              </a:solidFill>
              <a:latin typeface="Instrument Sans Medium" pitchFamily="34" charset="0"/>
            </a:endParaRPr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endParaRPr lang="en-US" sz="2000" dirty="0"/>
          </a:p>
          <a:p>
            <a:pPr marL="342900" indent="-342900" algn="l" rtl="0">
              <a:lnSpc>
                <a:spcPts val="2000"/>
              </a:lnSpc>
              <a:buSzPct val="100000"/>
              <a:buChar char="•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Limitation: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Highly sensitive to </a:t>
            </a: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JPEG compression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and resizing (common on social media), which acts as a low-pass filter.</a:t>
            </a:r>
            <a:endParaRPr lang="en-US" sz="2000" dirty="0"/>
          </a:p>
        </p:txBody>
      </p:sp>
      <p:sp>
        <p:nvSpPr>
          <p:cNvPr id="11" name="מלבן 10">
            <a:extLst>
              <a:ext uri="{FF2B5EF4-FFF2-40B4-BE49-F238E27FC236}">
                <a16:creationId xmlns:a16="http://schemas.microsoft.com/office/drawing/2014/main" id="{0A23F82C-3DE4-06AF-A9AD-BDFD19E5C908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 sz="2400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9824"/>
            <a:ext cx="9759315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Detection Family 2: Semantic Reasoning &amp; Distillation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977570"/>
            <a:ext cx="1156977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Advanced Cognitive Methodologies (SOTA)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907744"/>
            <a:ext cx="6407944" cy="3978950"/>
          </a:xfrm>
          <a:prstGeom prst="roundRect">
            <a:avLst>
              <a:gd name="adj" fmla="val 367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763310" y="2907744"/>
            <a:ext cx="121920" cy="397895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142524" y="3165038"/>
            <a:ext cx="4065508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Semantic Reasoning (MLLMs):</a:t>
            </a:r>
            <a:endParaRPr lang="en-US" sz="2200" u="sng" dirty="0"/>
          </a:p>
        </p:txBody>
      </p:sp>
      <p:sp>
        <p:nvSpPr>
          <p:cNvPr id="7" name="Text 5"/>
          <p:cNvSpPr/>
          <p:nvPr/>
        </p:nvSpPr>
        <p:spPr>
          <a:xfrm>
            <a:off x="1142524" y="3655457"/>
            <a:ext cx="5801916" cy="21775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FakeShield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Innovation: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Treats detection as a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Visual Question Answering (VQA)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task.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Output: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Provides natural language explanations (e.g., "The text on the street sign is gibberish") rather than just a binary score.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428548" y="2907744"/>
            <a:ext cx="6408063" cy="3978950"/>
          </a:xfrm>
          <a:prstGeom prst="roundRect">
            <a:avLst>
              <a:gd name="adj" fmla="val 3677"/>
            </a:avLst>
          </a:prstGeom>
          <a:solidFill>
            <a:srgbClr val="FFFFFF"/>
          </a:solidFill>
          <a:ln w="30480">
            <a:solidFill>
              <a:srgbClr val="B4CCE3"/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9" name="Shape 7"/>
          <p:cNvSpPr/>
          <p:nvPr/>
        </p:nvSpPr>
        <p:spPr>
          <a:xfrm>
            <a:off x="7398067" y="2907744"/>
            <a:ext cx="121920" cy="3978950"/>
          </a:xfrm>
          <a:prstGeom prst="roundRect">
            <a:avLst>
              <a:gd name="adj" fmla="val 167442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7777282" y="3165038"/>
            <a:ext cx="5802035" cy="7086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u="sng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Multi-Teacher Knowledge Distillation (Re-MTKD):</a:t>
            </a:r>
            <a:endParaRPr lang="en-US" sz="2200" u="sng" dirty="0"/>
          </a:p>
        </p:txBody>
      </p:sp>
      <p:sp>
        <p:nvSpPr>
          <p:cNvPr id="11" name="Text 9"/>
          <p:cNvSpPr/>
          <p:nvPr/>
        </p:nvSpPr>
        <p:spPr>
          <a:xfrm>
            <a:off x="7777282" y="4009787"/>
            <a:ext cx="5802035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Mechanism: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Uses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Reinforcement Learning (RL)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aggregate signals from multiple specialized "teacher" networks (splicing, copy-move, inpainting).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Goal: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To learn a generalized representation of forgery traces without overfitting to the artifacts of a single generator (like Stable Diffusion).</a:t>
            </a:r>
            <a:endParaRPr lang="en-US" sz="1750" dirty="0"/>
          </a:p>
        </p:txBody>
      </p:sp>
      <p:sp>
        <p:nvSpPr>
          <p:cNvPr id="12" name="מלבן 11">
            <a:extLst>
              <a:ext uri="{FF2B5EF4-FFF2-40B4-BE49-F238E27FC236}">
                <a16:creationId xmlns:a16="http://schemas.microsoft.com/office/drawing/2014/main" id="{36BAED6D-B471-1CB2-6D00-9D4B4FE8C2DE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375761"/>
            <a:ext cx="7651313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Comparative Analysis of Leading Models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943867"/>
            <a:ext cx="8976955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Benchmarking 2025 Performance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2863215"/>
            <a:ext cx="13042821" cy="4068128"/>
          </a:xfrm>
          <a:prstGeom prst="roundRect">
            <a:avLst>
              <a:gd name="adj" fmla="val 5018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Shape 3"/>
          <p:cNvSpPr/>
          <p:nvPr/>
        </p:nvSpPr>
        <p:spPr>
          <a:xfrm>
            <a:off x="801410" y="2870835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6" name="Text 4"/>
          <p:cNvSpPr/>
          <p:nvPr/>
        </p:nvSpPr>
        <p:spPr>
          <a:xfrm>
            <a:off x="1028343" y="3014543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3637598" y="3014543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Knowledge Distillation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45824" y="3014543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98.1% Accuracy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(General benchmarks). Best for broad detection.</a:t>
            </a:r>
            <a:endParaRPr lang="en-US" sz="1750" dirty="0"/>
          </a:p>
        </p:txBody>
      </p:sp>
      <p:sp>
        <p:nvSpPr>
          <p:cNvPr id="9" name="Shape 7"/>
          <p:cNvSpPr/>
          <p:nvPr/>
        </p:nvSpPr>
        <p:spPr>
          <a:xfrm>
            <a:off x="801410" y="3884057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0" name="Text 8"/>
          <p:cNvSpPr/>
          <p:nvPr/>
        </p:nvSpPr>
        <p:spPr>
          <a:xfrm>
            <a:off x="1028343" y="4027765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InpDiffusion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3637598" y="4027765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Generative Masking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545824" y="4027765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97.3% AUC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(AutoSplice). Uses diffusion to </a:t>
            </a: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generate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mask, avoiding jagged edges.</a:t>
            </a:r>
            <a:endParaRPr lang="en-US" sz="1750" dirty="0"/>
          </a:p>
        </p:txBody>
      </p:sp>
      <p:sp>
        <p:nvSpPr>
          <p:cNvPr id="13" name="Shape 11"/>
          <p:cNvSpPr/>
          <p:nvPr/>
        </p:nvSpPr>
        <p:spPr>
          <a:xfrm>
            <a:off x="801410" y="4897279"/>
            <a:ext cx="13027581" cy="1013222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4" name="Text 12"/>
          <p:cNvSpPr/>
          <p:nvPr/>
        </p:nvSpPr>
        <p:spPr>
          <a:xfrm>
            <a:off x="1028343" y="5040987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</a:t>
            </a:r>
            <a:endParaRPr lang="en-US" sz="1750" dirty="0"/>
          </a:p>
        </p:txBody>
      </p:sp>
      <p:sp>
        <p:nvSpPr>
          <p:cNvPr id="15" name="Text 13"/>
          <p:cNvSpPr/>
          <p:nvPr/>
        </p:nvSpPr>
        <p:spPr>
          <a:xfrm>
            <a:off x="3637598" y="5040987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 Feature Injection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545824" y="5040987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+12% IoU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vs. CAT-Net. Operates in the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Latent Space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making it robust to WhatsApp/WeChat compression.</a:t>
            </a:r>
            <a:endParaRPr lang="en-US" sz="1750" dirty="0"/>
          </a:p>
        </p:txBody>
      </p:sp>
      <p:sp>
        <p:nvSpPr>
          <p:cNvPr id="17" name="Shape 15"/>
          <p:cNvSpPr/>
          <p:nvPr/>
        </p:nvSpPr>
        <p:spPr>
          <a:xfrm>
            <a:off x="801410" y="5910501"/>
            <a:ext cx="13027581" cy="1013222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8" name="Text 16"/>
          <p:cNvSpPr/>
          <p:nvPr/>
        </p:nvSpPr>
        <p:spPr>
          <a:xfrm>
            <a:off x="1028343" y="6054209"/>
            <a:ext cx="2148007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3637598" y="6054209"/>
            <a:ext cx="3446978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Multimodal LLM</a:t>
            </a:r>
            <a:endParaRPr lang="en-US" sz="1750" dirty="0"/>
          </a:p>
        </p:txBody>
      </p:sp>
      <p:sp>
        <p:nvSpPr>
          <p:cNvPr id="20" name="Text 18"/>
          <p:cNvSpPr/>
          <p:nvPr/>
        </p:nvSpPr>
        <p:spPr>
          <a:xfrm>
            <a:off x="7545824" y="6054209"/>
            <a:ext cx="605635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91.4% AUC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(IMD2020). High explainability (ROUGE 0.303).</a:t>
            </a:r>
            <a:endParaRPr lang="en-US" sz="1750" dirty="0"/>
          </a:p>
        </p:txBody>
      </p:sp>
      <p:sp>
        <p:nvSpPr>
          <p:cNvPr id="21" name="מלבן 20">
            <a:extLst>
              <a:ext uri="{FF2B5EF4-FFF2-40B4-BE49-F238E27FC236}">
                <a16:creationId xmlns:a16="http://schemas.microsoft.com/office/drawing/2014/main" id="{ACEA7001-06CE-A9BB-7D6C-EB3B8F63080D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31710"/>
            <a:ext cx="526470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New Data Ecosystem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147727"/>
            <a:ext cx="966073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Overcoming the "Data Silo" Problem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793790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1020604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SAGI-D (2025):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20604" y="3832622"/>
            <a:ext cx="3742730" cy="2540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95,839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"Deceptiveness." Uses Uncertainty-Guided Assessment to include only high-quality fakes. Retraining on this improved generalization by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26.1%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</p:txBody>
      </p:sp>
      <p:sp>
        <p:nvSpPr>
          <p:cNvPr id="7" name="Shape 5"/>
          <p:cNvSpPr/>
          <p:nvPr/>
        </p:nvSpPr>
        <p:spPr>
          <a:xfrm>
            <a:off x="5216962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8" name="Text 6"/>
          <p:cNvSpPr/>
          <p:nvPr/>
        </p:nvSpPr>
        <p:spPr>
          <a:xfrm>
            <a:off x="5443776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So-Fake (2025):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5443776" y="3832622"/>
            <a:ext cx="3742730" cy="18146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Scale: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Over 2 million images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Focus: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Social Media Robustness. Collected from Reddit/X to model real-world degradation.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640133" y="3115389"/>
            <a:ext cx="4196358" cy="3563660"/>
          </a:xfrm>
          <a:prstGeom prst="roundRect">
            <a:avLst>
              <a:gd name="adj" fmla="val 5729"/>
            </a:avLst>
          </a:prstGeom>
          <a:solidFill>
            <a:srgbClr val="CEE6FD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11" name="Text 9"/>
          <p:cNvSpPr/>
          <p:nvPr/>
        </p:nvSpPr>
        <p:spPr>
          <a:xfrm>
            <a:off x="9866948" y="3342203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1E306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ForensicHub: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9866948" y="3832622"/>
            <a:ext cx="3742730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 unified benchmark consolidating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23 datasets and 42 baseline models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, allowing instant comparison of new techniques.</a:t>
            </a:r>
            <a:endParaRPr lang="en-US" sz="1750" dirty="0"/>
          </a:p>
        </p:txBody>
      </p:sp>
      <p:sp>
        <p:nvSpPr>
          <p:cNvPr id="13" name="מלבן 12">
            <a:extLst>
              <a:ext uri="{FF2B5EF4-FFF2-40B4-BE49-F238E27FC236}">
                <a16:creationId xmlns:a16="http://schemas.microsoft.com/office/drawing/2014/main" id="{99CF858E-5040-EBAE-CD69-EDE5BEDCE0F6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hape 2">
            <a:extLst>
              <a:ext uri="{FF2B5EF4-FFF2-40B4-BE49-F238E27FC236}">
                <a16:creationId xmlns:a16="http://schemas.microsoft.com/office/drawing/2014/main" id="{CA91120F-DC52-7706-383C-DD4CD0AB083D}"/>
              </a:ext>
            </a:extLst>
          </p:cNvPr>
          <p:cNvSpPr/>
          <p:nvPr/>
        </p:nvSpPr>
        <p:spPr>
          <a:xfrm>
            <a:off x="7315200" y="2457806"/>
            <a:ext cx="6571417" cy="4878943"/>
          </a:xfrm>
          <a:prstGeom prst="roundRect">
            <a:avLst>
              <a:gd name="adj" fmla="val 6695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2" name="Text 0"/>
          <p:cNvSpPr/>
          <p:nvPr/>
        </p:nvSpPr>
        <p:spPr>
          <a:xfrm>
            <a:off x="793790" y="892850"/>
            <a:ext cx="7744182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Commercial vs. Open-Source Landscape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08867"/>
            <a:ext cx="979455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The Rise of "Ensemble-as-a-Service"</a:t>
            </a:r>
            <a:endParaRPr lang="en-US" sz="4450" dirty="0"/>
          </a:p>
        </p:txBody>
      </p:sp>
      <p:sp>
        <p:nvSpPr>
          <p:cNvPr id="4" name="Shape 2"/>
          <p:cNvSpPr/>
          <p:nvPr/>
        </p:nvSpPr>
        <p:spPr>
          <a:xfrm>
            <a:off x="630436" y="2457807"/>
            <a:ext cx="6571417" cy="4878943"/>
          </a:xfrm>
          <a:prstGeom prst="roundRect">
            <a:avLst>
              <a:gd name="adj" fmla="val 6695"/>
            </a:avLst>
          </a:prstGeom>
          <a:solidFill>
            <a:srgbClr val="84C1FA"/>
          </a:solidFill>
          <a:ln/>
        </p:spPr>
        <p:txBody>
          <a:bodyPr/>
          <a:lstStyle/>
          <a:p>
            <a:pPr algn="l" rtl="0"/>
            <a:endParaRPr lang="he-IL"/>
          </a:p>
        </p:txBody>
      </p:sp>
      <p:sp>
        <p:nvSpPr>
          <p:cNvPr id="5" name="Text 3"/>
          <p:cNvSpPr/>
          <p:nvPr/>
        </p:nvSpPr>
        <p:spPr>
          <a:xfrm>
            <a:off x="857250" y="2684621"/>
            <a:ext cx="2921913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Commercial Strategy: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857250" y="3265765"/>
            <a:ext cx="6117788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 rtl="0">
              <a:lnSpc>
                <a:spcPts val="2850"/>
              </a:lnSpc>
              <a:buNone/>
            </a:pP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Moving beyond single models to complex aggregation pipelines.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857250" y="4195643"/>
            <a:ext cx="6117788" cy="29033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Reality Defender: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Focus on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Enterprise/Government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. Key features: Explainable AI heatmaps and Audio-Visual synchronization checks.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TrueMedia.org: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Non-profit aggregator for political/news verification. Widely cited as a "second opinion" layer.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High accuracy (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~82-90%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) but vulnerable to specific adversarial "laundering" attacks.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599521" y="2684621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 rtl="0">
              <a:lnSpc>
                <a:spcPts val="2750"/>
              </a:lnSpc>
              <a:buNone/>
            </a:pPr>
            <a:r>
              <a:rPr lang="en-US" sz="220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Recommendation: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7599521" y="3265765"/>
            <a:ext cx="6244709" cy="14516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High-Stakes: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Use commercial APIs (Reality Defender) for scale and robustness.</a:t>
            </a:r>
            <a:endParaRPr lang="en-US" sz="175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Internal/Sensitive: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Deploy open-source models like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(for localization) and </a:t>
            </a:r>
            <a:r>
              <a:rPr lang="en-US" sz="175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</a:t>
            </a:r>
            <a:r>
              <a:rPr lang="en-US" sz="175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on local GPUs.</a:t>
            </a:r>
            <a:endParaRPr lang="en-US" sz="1750" dirty="0"/>
          </a:p>
        </p:txBody>
      </p:sp>
      <p:sp>
        <p:nvSpPr>
          <p:cNvPr id="10" name="מלבן 9">
            <a:extLst>
              <a:ext uri="{FF2B5EF4-FFF2-40B4-BE49-F238E27FC236}">
                <a16:creationId xmlns:a16="http://schemas.microsoft.com/office/drawing/2014/main" id="{52E76D37-FDDF-495E-420F-E08E5C3640F7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39879"/>
            <a:ext cx="5806916" cy="42529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300"/>
              </a:lnSpc>
              <a:buNone/>
            </a:pPr>
            <a:r>
              <a:rPr lang="en-US" sz="26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References &amp; Key Literature</a:t>
            </a:r>
            <a:endParaRPr lang="en-US" sz="2650" dirty="0"/>
          </a:p>
        </p:txBody>
      </p:sp>
      <p:sp>
        <p:nvSpPr>
          <p:cNvPr id="3" name="Text 1"/>
          <p:cNvSpPr/>
          <p:nvPr/>
        </p:nvSpPr>
        <p:spPr>
          <a:xfrm>
            <a:off x="793790" y="1455896"/>
            <a:ext cx="7929801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091C53"/>
                </a:solidFill>
                <a:latin typeface="Instrument Sans Semi Bold" pitchFamily="34" charset="0"/>
                <a:ea typeface="Instrument Sans Semi Bold" pitchFamily="34" charset="-122"/>
                <a:cs typeface="Instrument Sans Semi Bold" pitchFamily="34" charset="-120"/>
              </a:rPr>
              <a:t>Primary Sources (2024–2026)</a:t>
            </a:r>
            <a:endParaRPr lang="en-US" sz="4450" dirty="0"/>
          </a:p>
        </p:txBody>
      </p:sp>
      <p:sp>
        <p:nvSpPr>
          <p:cNvPr id="4" name="Text 2"/>
          <p:cNvSpPr/>
          <p:nvPr/>
        </p:nvSpPr>
        <p:spPr>
          <a:xfrm>
            <a:off x="793790" y="2504837"/>
            <a:ext cx="13042821" cy="39921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Benchmarks: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DeepFake-Eval-2024: Evaluating Deepfake Detection in the Wild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(2025).</a:t>
            </a:r>
            <a:r>
              <a:rPr lang="he-IL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3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ForensicHub: A Unified Benchmark for Digital Forensics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(NeurIPS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4"/>
              </a:rPr>
              <a:t>[link]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Models: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Re-MTKD: Reinforced Multi-Teacher Knowledge Distillation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(AAAI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5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InpDiffusion: Generative Localization via Conditional Diffusion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(AAAI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6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SDiFL: Stable Diffusion-driven Framework for Localization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(arXiv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7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ForgeryGPT: Multimodal LLM for Explainable Detection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(arXiv 2024).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8"/>
              </a:rPr>
              <a:t>[link]</a:t>
            </a:r>
            <a:endParaRPr lang="en-US" sz="2000" dirty="0"/>
          </a:p>
          <a:p>
            <a:pPr marL="342900" indent="-342900" algn="l" rtl="0">
              <a:lnSpc>
                <a:spcPts val="2850"/>
              </a:lnSpc>
              <a:buSzPct val="100000"/>
              <a:buChar char="•"/>
            </a:pPr>
            <a:r>
              <a:rPr lang="en-US" sz="2000" b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Datasets: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SAGI-D: Semantically Aligned and Uncertainty-Guided Inpainting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(ICCV 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9"/>
              </a:rPr>
              <a:t>[link]</a:t>
            </a:r>
            <a:endParaRPr lang="en-US" sz="2000" dirty="0"/>
          </a:p>
          <a:p>
            <a:pPr marL="685800" lvl="1" indent="-342900" algn="l" rtl="0">
              <a:lnSpc>
                <a:spcPts val="2850"/>
              </a:lnSpc>
              <a:buSzPct val="100000"/>
              <a:buChar char="◦"/>
            </a:pPr>
            <a:r>
              <a:rPr lang="en-US" sz="2000" i="1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So-Fake: Social Media Compression and Robustness Dataset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(2025). </a:t>
            </a:r>
            <a:r>
              <a:rPr lang="en-US" sz="2000" dirty="0">
                <a:solidFill>
                  <a:srgbClr val="1E3063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  <a:hlinkClick r:id="rId10"/>
              </a:rPr>
              <a:t>[link]</a:t>
            </a:r>
            <a:endParaRPr lang="en-US" sz="2000" dirty="0"/>
          </a:p>
        </p:txBody>
      </p:sp>
      <p:sp>
        <p:nvSpPr>
          <p:cNvPr id="7" name="מלבן 6">
            <a:extLst>
              <a:ext uri="{FF2B5EF4-FFF2-40B4-BE49-F238E27FC236}">
                <a16:creationId xmlns:a16="http://schemas.microsoft.com/office/drawing/2014/main" id="{AD0B59B9-2F6B-D157-00E4-06DDC0A6870E}"/>
              </a:ext>
            </a:extLst>
          </p:cNvPr>
          <p:cNvSpPr/>
          <p:nvPr/>
        </p:nvSpPr>
        <p:spPr>
          <a:xfrm>
            <a:off x="12814300" y="7632700"/>
            <a:ext cx="1816100" cy="5969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3"/>
          </a:lnRef>
          <a:fillRef idx="1">
            <a:schemeClr val="lt1"/>
          </a:fillRef>
          <a:effectRef idx="0">
            <a:schemeClr val="accent3"/>
          </a:effectRef>
          <a:fontRef idx="minor">
            <a:schemeClr val="dk1"/>
          </a:fontRef>
        </p:style>
        <p:txBody>
          <a:bodyPr rtlCol="1" anchor="ctr"/>
          <a:lstStyle/>
          <a:p>
            <a:pPr marL="0" algn="ctr" defTabSz="914400" rtl="0" eaLnBrk="1" latinLnBrk="0" hangingPunct="1"/>
            <a:endParaRPr lang="he-IL">
              <a:ln>
                <a:solidFill>
                  <a:schemeClr val="bg1"/>
                </a:solidFill>
              </a:ln>
              <a:effectLst>
                <a:outerShdw blurRad="50800" dist="50800" dir="5400000" algn="ctr" rotWithShape="0">
                  <a:schemeClr val="bg1"/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ערכת נושא של Office 2013 - 2022">
  <a:themeElements>
    <a:clrScheme name="ערכת נושא של Office 2013 - 2022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ערכת נושא של Office 2013 - 2022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ערכת נושא של Office 2013 - 2022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900</TotalTime>
  <Words>1229</Words>
  <Application>Microsoft Macintosh PowerPoint</Application>
  <PresentationFormat>מותאם אישית</PresentationFormat>
  <Paragraphs>121</Paragraphs>
  <Slides>10</Slides>
  <Notes>10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5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6" baseType="lpstr">
      <vt:lpstr>Calibri</vt:lpstr>
      <vt:lpstr>Instrument Sans Semi Bold</vt:lpstr>
      <vt:lpstr>Instrument Sans Medium</vt:lpstr>
      <vt:lpstr>Calibri Light</vt:lpstr>
      <vt:lpstr>Arial</vt:lpstr>
      <vt:lpstr>ערכת נושא של Office 2013 - 2022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תומר עטיה</cp:lastModifiedBy>
  <cp:revision>5</cp:revision>
  <dcterms:created xsi:type="dcterms:W3CDTF">2026-02-08T01:51:02Z</dcterms:created>
  <dcterms:modified xsi:type="dcterms:W3CDTF">2026-02-08T16:51:25Z</dcterms:modified>
</cp:coreProperties>
</file>